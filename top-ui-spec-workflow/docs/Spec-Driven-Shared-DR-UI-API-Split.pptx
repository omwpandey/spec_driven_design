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whole deck: one shared spec repository takes in the DR once, then two technology-specific repositories build their own contracts and questionnaires from it. Nobody re-fetches or re-interprets the DR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shared spine every feature goes through exactly once: fetch → grill → record → normalize → split. The DR is never re-fetched or re-interpreted independently by the UI and API tracks — they read the same agreed 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the shared DR facts are agreed in top-spec-workflow, the two tracks proceed independently and in parallel. Neither track re-reads Confluence directly — both read the agreed requirements.md / design.md / acceptance.md.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three-phase model as the earlier UI briefing deck, reframed here as one of two tracks fed by the shared spec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mockup illustrates the interaction pattern, not a literal transcript. The point for leadership: questions are narrow, traceable to the DR, and recorded as durable contract data rather than left in chat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of four API-focused slides: what api-contract.json must contain before any code generation is attempted.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API slide: the contract questionnaire is where concurrency and permission risk gets resolved before code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 API slide: the generation pipeline, and an explicit boundary of what the agent must not scaffold.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slide: this is the piece people usually confuse. Instructions are always-on guardrails (global or path-scoped); prompts are opt-in, single-purpose workflows the developer or agent invokes explicitly, and they still operate inside the instruction guardrails.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33"/>
          </a:solidFill>
          <a:ln w="12700">
            <a:solidFill>
              <a:srgbClr val="121C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DELIVERY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DR. Two Specialized Tracks.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5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top-spec-workflow feeds a phase-wise pipeline that splits into UI Specification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5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API Specification, each with its own developer questionnaire.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547872" cy="1874520"/>
          </a:xfrm>
          <a:prstGeom prst="roundRect">
            <a:avLst>
              <a:gd name="adj" fmla="val 3415"/>
            </a:avLst>
          </a:prstGeom>
          <a:solidFill>
            <a:srgbClr val="1E2E4F"/>
          </a:solidFill>
          <a:ln w="12700">
            <a:solidFill>
              <a:srgbClr val="2A3F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331720"/>
            <a:ext cx="3547872" cy="64008"/>
          </a:xfrm>
          <a:prstGeom prst="rect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542032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top-spec-workflow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3035808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DR intake, traceability, agreed scope — technology-neutral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2331720"/>
            <a:ext cx="3547872" cy="1874520"/>
          </a:xfrm>
          <a:prstGeom prst="roundRect">
            <a:avLst>
              <a:gd name="adj" fmla="val 3415"/>
            </a:avLst>
          </a:prstGeom>
          <a:solidFill>
            <a:srgbClr val="1E2E4F"/>
          </a:solidFill>
          <a:ln w="12700">
            <a:solidFill>
              <a:srgbClr val="2A3F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331720"/>
            <a:ext cx="3547872" cy="6400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4568" y="2542032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top-ui-spec-workflow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44568" y="3035808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contract, component map, UI questionnaire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2331720"/>
            <a:ext cx="3547872" cy="1874520"/>
          </a:xfrm>
          <a:prstGeom prst="roundRect">
            <a:avLst>
              <a:gd name="adj" fmla="val 3415"/>
            </a:avLst>
          </a:prstGeom>
          <a:solidFill>
            <a:srgbClr val="1E2E4F"/>
          </a:solidFill>
          <a:ln w="12700">
            <a:solidFill>
              <a:srgbClr val="2A3F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2331720"/>
            <a:ext cx="3547872" cy="64008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2542032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top-api-spec-workflow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47888" y="3035808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contract, Java generation rules, API questionnaire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5105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Internal use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241280" y="65105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/  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AI INITIATIVES  ·  Spec-Driven Delivery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2560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B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FOUNDATION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475488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top-spec-workflow is the single DR intake — phase by phase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84048" y="1051560"/>
            <a:ext cx="2194560" cy="228600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01600" dist="25400" dir="16200000">
              <a:srgbClr val="1B2A4A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1887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B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1883664"/>
            <a:ext cx="1865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published Design Requirement from Confluence into specs/&lt;FUNCTION_KEY&gt;/raw/.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83180" y="196596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380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688336" y="1051560"/>
            <a:ext cx="2194560" cy="228600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01600" dist="25400" dir="16200000">
              <a:srgbClr val="1B2A4A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52928" y="11887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B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852928" y="155448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52928" y="1883664"/>
            <a:ext cx="1865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reviewable grill pack. Developer agrees, edits, or rejects scope.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87468" y="196596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380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92624" y="1051560"/>
            <a:ext cx="2194560" cy="228600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01600" dist="25400" dir="16200000">
              <a:srgbClr val="1B2A4A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57216" y="11887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B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157216" y="155448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57216" y="1883664"/>
            <a:ext cx="1865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is written to grill.json before any contract work starts.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91756" y="196596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380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296912" y="1051560"/>
            <a:ext cx="2194560" cy="228600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01600" dist="25400" dir="16200000">
              <a:srgbClr val="1B2A4A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61504" y="11887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B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461504" y="155448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61504" y="1883664"/>
            <a:ext cx="1865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DR-supported facts move into requirements.md, design.md, acceptance.md.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96044" y="1965960"/>
            <a:ext cx="10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380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01200" y="1051560"/>
            <a:ext cx="2194560" cy="228600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01600" dist="25400" dir="16200000">
              <a:srgbClr val="1B2A4A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765792" y="11887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B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765792" y="155448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765792" y="1883664"/>
            <a:ext cx="18653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and API repos each create their own technology contract from the same facts.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65760" y="3611880"/>
            <a:ext cx="11466576" cy="1371600"/>
          </a:xfrm>
          <a:prstGeom prst="roundRect">
            <a:avLst>
              <a:gd name="adj" fmla="val 4667"/>
            </a:avLst>
          </a:prstGeom>
          <a:solidFill>
            <a:srgbClr val="E8EEF6"/>
          </a:solidFill>
          <a:ln w="12700">
            <a:solidFill>
              <a:srgbClr val="C7D6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3749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layout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6928" y="40416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specs/&lt;FUNCTION_KEY&gt;/  raw/ · grill.json · grill.md · sources.md · requirements.md · design.md · tasks.md · acceptance.md · decisions.md · feature.md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5760" y="5212080"/>
            <a:ext cx="11466576" cy="9144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53218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Technology-specific contracts never live here.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66928" y="563270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ui-contract.json and component-map.json belong to top-ui-spec-workflow. api-contract.json and Java generation guidance belong to top-api-spec-workflow. Both are stored beside the shared feature folder, not duplicated.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AI INITIATIVES  ·  Spec-Driven Delivery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2560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B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SCOPE IS AGREED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475488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DR, two independent specification tracks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480560" y="1005840"/>
            <a:ext cx="3200400" cy="1051560"/>
          </a:xfrm>
          <a:prstGeom prst="roundRect">
            <a:avLst>
              <a:gd name="adj" fmla="val 608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1155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top-spec-workflow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63440" y="142646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DR · requirements.md · design.md · acceptance.md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0" y="2057400"/>
            <a:ext cx="-1920240" cy="914400"/>
          </a:xfrm>
          <a:prstGeom prst="line">
            <a:avLst/>
          </a:prstGeom>
          <a:noFill/>
          <a:ln w="19050">
            <a:solidFill>
              <a:srgbClr val="6B738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040880" y="2057400"/>
            <a:ext cx="1920240" cy="914400"/>
          </a:xfrm>
          <a:prstGeom prst="line">
            <a:avLst/>
          </a:prstGeom>
          <a:noFill/>
          <a:ln w="19050">
            <a:solidFill>
              <a:srgbClr val="6B738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40080" y="3063240"/>
            <a:ext cx="5212080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01600" dist="25400" dir="16200000">
              <a:srgbClr val="1B2A4A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063240"/>
            <a:ext cx="5212080" cy="7315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2461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SPECIFICATION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4564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top-ui-spec-workflow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96112" y="3977640"/>
            <a:ext cx="91440" cy="9144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39136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ui-contract.json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6112" y="4361688"/>
            <a:ext cx="91440" cy="9144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42976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component-map.json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6112" y="4745736"/>
            <a:ext cx="91440" cy="9144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46817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→ Architect → Reviewer agents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96112" y="5129784"/>
            <a:ext cx="91440" cy="9144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506577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validation against approved components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68680" y="55046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implemented in top-ui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09360" y="3063240"/>
            <a:ext cx="5212080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01600" dist="25400" dir="16200000">
              <a:srgbClr val="1B2A4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3063240"/>
            <a:ext cx="5212080" cy="73152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2461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B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SPECIFICATION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34564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top-api-spec-workflow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565392" y="3977640"/>
            <a:ext cx="91440" cy="91440"/>
          </a:xfrm>
          <a:prstGeom prst="ellipse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8272" y="39136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api-contract.json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65392" y="4361688"/>
            <a:ext cx="91440" cy="91440"/>
          </a:xfrm>
          <a:prstGeom prst="ellipse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48272" y="42976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actions, permissions, validations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565392" y="4745736"/>
            <a:ext cx="91440" cy="91440"/>
          </a:xfrm>
          <a:prstGeom prst="ellipse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48272" y="46817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 Analyst agent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565392" y="5129784"/>
            <a:ext cx="91440" cy="91440"/>
          </a:xfrm>
          <a:prstGeom prst="ellipse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48272" y="506577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generation prompts (CRUD / SQL-chain)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537960" y="55046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implemented in the Java service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AI INITIATIVES  ·  Spec-Driven Delivery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2560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SPECIFICATION TRACK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475488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agreed scope to a reviewed, component-accurate screen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024128"/>
            <a:ext cx="3767328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01600" dist="25400" dir="16200000">
              <a:srgbClr val="1B2A4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024128"/>
            <a:ext cx="3767328" cy="7315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 ·  Align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14813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1773936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shared DR facts. Produces a task list scoped to this Function Key.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79392" y="1024128"/>
            <a:ext cx="3767328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01600" dist="25400" dir="16200000">
              <a:srgbClr val="1B2A4A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79392" y="1024128"/>
            <a:ext cx="3767328" cy="7315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Specify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14813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→ Architect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480560" y="1773936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every field/action to the approved component library. Writes ui-contract.json + component-map.json.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93024" y="1024128"/>
            <a:ext cx="3767328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01600" dist="25400" dir="16200000">
              <a:srgbClr val="1B2A4A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93024" y="1024128"/>
            <a:ext cx="3767328" cy="7315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4192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Deliver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94192" y="14813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→ Reviewer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94192" y="1773936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screen from the contract. Reviewer checks it against the map before merge.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3520440"/>
            <a:ext cx="11466576" cy="9144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3016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 never talks to raw Confluence markup.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" y="394106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pasting the DR link once (handled upstream in top-spec-workflow), every remaining interaction is a short, targeted questionnaire — confirm the component, confirm the field, confirm the edge case. See next slide for the actual flow.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65760" y="4617720"/>
            <a:ext cx="11466576" cy="1417320"/>
          </a:xfrm>
          <a:prstGeom prst="roundRect">
            <a:avLst>
              <a:gd name="adj" fmla="val 4516"/>
            </a:avLst>
          </a:prstGeom>
          <a:solidFill>
            <a:srgbClr val="E8EEF6"/>
          </a:solidFill>
          <a:ln w="12700">
            <a:solidFill>
              <a:srgbClr val="C7D6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7548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boundary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" y="5029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Owns: ui-contract.json, component-map.json, UI agents, React validation scripts (feature:validate, component-map:validate, ui:guard).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own: DR evidence, requirements text, or React implementation code — those live in top-spec-workflow and top-ui.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33"/>
          </a:solidFill>
          <a:ln w="12700">
            <a:solidFill>
              <a:srgbClr val="121C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AI INITIATIVES  ·  Spec-Driven Delivery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2560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SPECIFICATION — DEVELOPER EXPERIENCE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475488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demo: confirming the component map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85953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DR link is provided and scope is agreed, the Architect agent asks short, specific questions before writing ui-contract.json.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6949440" cy="4937760"/>
          </a:xfrm>
          <a:prstGeom prst="roundRect">
            <a:avLst>
              <a:gd name="adj" fmla="val 1481"/>
            </a:avLst>
          </a:prstGeom>
          <a:solidFill>
            <a:srgbClr val="1E2431"/>
          </a:solidFill>
          <a:ln w="12700">
            <a:solidFill>
              <a:srgbClr val="323A4C"/>
            </a:solidFill>
            <a:prstDash val="solid"/>
          </a:ln>
          <a:effectLst>
            <a:outerShdw sx="100000" sy="100000" kx="0" ky="0" algn="bl" rotWithShape="0" blurRad="152400" dist="38100" dir="162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6949440" cy="384048"/>
          </a:xfrm>
          <a:prstGeom prst="roundRect">
            <a:avLst>
              <a:gd name="adj" fmla="val 19048"/>
            </a:avLst>
          </a:prstGeom>
          <a:solidFill>
            <a:srgbClr val="171B26"/>
          </a:solidFill>
          <a:ln w="12700">
            <a:solidFill>
              <a:srgbClr val="171B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499616"/>
            <a:ext cx="128016" cy="128016"/>
          </a:xfrm>
          <a:prstGeom prst="ellipse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" y="1499616"/>
            <a:ext cx="128016" cy="128016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992" y="1499616"/>
            <a:ext cx="128016" cy="128016"/>
          </a:xfrm>
          <a:prstGeom prst="ellipse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142646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Questionnaire — agent chat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" y="1938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" y="2139696"/>
            <a:ext cx="6126480" cy="603504"/>
          </a:xfrm>
          <a:prstGeom prst="roundRect">
            <a:avLst>
              <a:gd name="adj" fmla="val 9091"/>
            </a:avLst>
          </a:prstGeom>
          <a:solidFill>
            <a:srgbClr val="2A3142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194560"/>
            <a:ext cx="5833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WCRM020104 has a filter grid with 12 fields. I'll map 'Customer Status' to the approved &lt;ComboFilter&gt; component backed by combo API CRM_STATUS. Confirm?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60704" y="29077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60704" y="3108960"/>
            <a:ext cx="6126480" cy="292608"/>
          </a:xfrm>
          <a:prstGeom prst="roundRect">
            <a:avLst>
              <a:gd name="adj" fmla="val 18750"/>
            </a:avLst>
          </a:prstGeom>
          <a:solidFill>
            <a:srgbClr val="323A4C"/>
          </a:solidFill>
          <a:ln w="12700">
            <a:solidFill>
              <a:srgbClr val="4A54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07008" y="3163824"/>
            <a:ext cx="5833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" y="3566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" y="3767328"/>
            <a:ext cx="6126480" cy="548640"/>
          </a:xfrm>
          <a:prstGeom prst="roundRect">
            <a:avLst>
              <a:gd name="adj" fmla="val 10000"/>
            </a:avLst>
          </a:prstGeom>
          <a:solidFill>
            <a:srgbClr val="2A3142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822192"/>
            <a:ext cx="5833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 shows a date range picker for 'Registered Between'. Approved library has &lt;DateRangeField&gt;. Use it, or is a custom control required?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60704" y="4480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60704" y="4681728"/>
            <a:ext cx="6126480" cy="292608"/>
          </a:xfrm>
          <a:prstGeom prst="roundRect">
            <a:avLst>
              <a:gd name="adj" fmla="val 18750"/>
            </a:avLst>
          </a:prstGeom>
          <a:solidFill>
            <a:srgbClr val="323A4C"/>
          </a:solidFill>
          <a:ln w="12700">
            <a:solidFill>
              <a:srgbClr val="4A54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07008" y="4736592"/>
            <a:ext cx="5833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&lt;DateRangeField&gt;.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" y="51389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6656" y="5340096"/>
            <a:ext cx="6126480" cy="457200"/>
          </a:xfrm>
          <a:prstGeom prst="roundRect">
            <a:avLst>
              <a:gd name="adj" fmla="val 12000"/>
            </a:avLst>
          </a:prstGeom>
          <a:solidFill>
            <a:srgbClr val="2A3142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394960"/>
            <a:ext cx="5833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has 40+ rows expected. Apply the standard 20/page pagination default, or override?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60704" y="59618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60704" y="6163056"/>
            <a:ext cx="6126480" cy="292608"/>
          </a:xfrm>
          <a:prstGeom prst="roundRect">
            <a:avLst>
              <a:gd name="adj" fmla="val 18750"/>
            </a:avLst>
          </a:prstGeom>
          <a:solidFill>
            <a:srgbClr val="323A4C"/>
          </a:solidFill>
          <a:ln w="12700">
            <a:solidFill>
              <a:srgbClr val="4A54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07008" y="6217920"/>
            <a:ext cx="5833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default is fine.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89520" y="1371600"/>
            <a:ext cx="4160520" cy="4937760"/>
          </a:xfrm>
          <a:prstGeom prst="roundRect">
            <a:avLst>
              <a:gd name="adj" fmla="val 1538"/>
            </a:avLst>
          </a:prstGeom>
          <a:solidFill>
            <a:srgbClr val="1E2E4F"/>
          </a:solidFill>
          <a:ln w="12700">
            <a:solidFill>
              <a:srgbClr val="2A3F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18120" y="15727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818120" y="2066544"/>
            <a:ext cx="109728" cy="109728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0" y="201168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ties to a specific DR fact — nothing is invented.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818120" y="2999232"/>
            <a:ext cx="109728" cy="109728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0" y="294436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recorded directly into ui-contract.json / component-map.json.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818120" y="3931920"/>
            <a:ext cx="109728" cy="109728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3877056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question is asked twice: unresolved items block the next phase instead of being silently guessed.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818120" y="4864608"/>
            <a:ext cx="109728" cy="109728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0" y="4809744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 stays in control of every UI decision; the agent only proposes.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AI INITIATIVES  ·  Spec-Driven Delivery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2560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B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SPECIFICATION TRACK  ·  1 OF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475488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Contract-first: agreed scope becomes api-contract.json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859536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Contract Analyst agent runs after the shared grill is agreed. It produces or reviews the API contract only — Java implementation stays in the Java application repository.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" y="1508760"/>
            <a:ext cx="11430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508760"/>
            <a:ext cx="64008" cy="658368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1591056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&amp; mappings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57600" y="1591056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primary keys, relationships — only what the DR and schema confirm.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84048" y="2286000"/>
            <a:ext cx="11430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286000"/>
            <a:ext cx="64008" cy="658368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2368296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&amp; validation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57600" y="2368296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types, nullability, lengths; validation messages as error codes, not prose.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84048" y="3063240"/>
            <a:ext cx="11430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3063240"/>
            <a:ext cx="64008" cy="658368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3145536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&amp; registration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657600" y="3145536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ID, actions, and one registration path per functionId.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84048" y="3840480"/>
            <a:ext cx="11430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3840480"/>
            <a:ext cx="64008" cy="658368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3922776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permissions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657600" y="3922776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query / SQL-chain needs, processor rules, permission and error-code references.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5760" y="4892040"/>
            <a:ext cx="11466576" cy="9144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500176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API contract is the approved input for Java scaffolding.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8" y="531266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must not generate Java directly from raw DR files or from ui-contract.json. Unresolved material behavior stays unresolved — never invented.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33"/>
          </a:solidFill>
          <a:ln w="12700">
            <a:solidFill>
              <a:srgbClr val="121C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AI INITIATIVES  ·  Spec-Driven Delivery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2560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B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SPECIFICATION  ·  2 OF 4  ·  DEVELOPER EXPERIENCE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475488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demo: confirming the API contract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859536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api-contract.json is written, the agent confirms entity mapping, concurrency handling, and permissions — each traceable to a DR fact or an explicit developer decision.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6949440" cy="4892040"/>
          </a:xfrm>
          <a:prstGeom prst="roundRect">
            <a:avLst>
              <a:gd name="adj" fmla="val 1495"/>
            </a:avLst>
          </a:prstGeom>
          <a:solidFill>
            <a:srgbClr val="1E2431"/>
          </a:solidFill>
          <a:ln w="12700">
            <a:solidFill>
              <a:srgbClr val="323A4C"/>
            </a:solidFill>
            <a:prstDash val="solid"/>
          </a:ln>
          <a:effectLst>
            <a:outerShdw sx="100000" sy="100000" kx="0" ky="0" algn="bl" rotWithShape="0" blurRad="152400" dist="38100" dir="162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417320"/>
            <a:ext cx="6949440" cy="384048"/>
          </a:xfrm>
          <a:prstGeom prst="roundRect">
            <a:avLst>
              <a:gd name="adj" fmla="val 19048"/>
            </a:avLst>
          </a:prstGeom>
          <a:solidFill>
            <a:srgbClr val="171B26"/>
          </a:solidFill>
          <a:ln w="12700">
            <a:solidFill>
              <a:srgbClr val="171B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545336"/>
            <a:ext cx="128016" cy="128016"/>
          </a:xfrm>
          <a:prstGeom prst="ellipse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" y="1545336"/>
            <a:ext cx="128016" cy="128016"/>
          </a:xfrm>
          <a:prstGeom prst="ellipse">
            <a:avLst/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992" y="1545336"/>
            <a:ext cx="128016" cy="128016"/>
          </a:xfrm>
          <a:prstGeom prst="ellipse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147218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Questionnaire — agent chat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" y="19842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B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" y="2185416"/>
            <a:ext cx="6126480" cy="603504"/>
          </a:xfrm>
          <a:prstGeom prst="roundRect">
            <a:avLst>
              <a:gd name="adj" fmla="val 9091"/>
            </a:avLst>
          </a:prstGeom>
          <a:solidFill>
            <a:srgbClr val="2A3142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240280"/>
            <a:ext cx="5833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confirms CUSTOMER_MASTER as the entity, PK 'customerId'. I found no documented FK to ACCOUNT_MASTER — should the relationship be added?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60704" y="29535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60704" y="3154680"/>
            <a:ext cx="6126480" cy="292608"/>
          </a:xfrm>
          <a:prstGeom prst="roundRect">
            <a:avLst>
              <a:gd name="adj" fmla="val 18750"/>
            </a:avLst>
          </a:prstGeom>
          <a:solidFill>
            <a:srgbClr val="323A4C"/>
          </a:solidFill>
          <a:ln w="12700">
            <a:solidFill>
              <a:srgbClr val="4A54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07008" y="3209544"/>
            <a:ext cx="5833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leave it unresolved for now.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" y="36118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B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" y="3813048"/>
            <a:ext cx="6126480" cy="548640"/>
          </a:xfrm>
          <a:prstGeom prst="roundRect">
            <a:avLst>
              <a:gd name="adj" fmla="val 10000"/>
            </a:avLst>
          </a:prstGeom>
          <a:solidFill>
            <a:srgbClr val="2A3142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867912"/>
            <a:ext cx="5833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'Update balance' looks concurrency-sensitive. Use SELECT_FOR_UPDATE + a native guarded update with a version predicate?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60704" y="4526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60704" y="4727448"/>
            <a:ext cx="6126480" cy="292608"/>
          </a:xfrm>
          <a:prstGeom prst="roundRect">
            <a:avLst>
              <a:gd name="adj" fmla="val 18750"/>
            </a:avLst>
          </a:prstGeom>
          <a:solidFill>
            <a:srgbClr val="323A4C"/>
          </a:solidFill>
          <a:ln w="12700">
            <a:solidFill>
              <a:srgbClr val="4A54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07008" y="4782312"/>
            <a:ext cx="5833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that's the standard pattern here.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" y="51846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B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6656" y="5385816"/>
            <a:ext cx="6126480" cy="402336"/>
          </a:xfrm>
          <a:prstGeom prst="roundRect">
            <a:avLst>
              <a:gd name="adj" fmla="val 13636"/>
            </a:avLst>
          </a:prstGeom>
          <a:solidFill>
            <a:srgbClr val="2A3142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440680"/>
            <a:ext cx="5833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permission code guards PUT /customers/{id} — CRM_CUST_EDIT?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60704" y="5952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60704" y="6153912"/>
            <a:ext cx="6126480" cy="292608"/>
          </a:xfrm>
          <a:prstGeom prst="roundRect">
            <a:avLst>
              <a:gd name="adj" fmla="val 18750"/>
            </a:avLst>
          </a:prstGeom>
          <a:solidFill>
            <a:srgbClr val="323A4C"/>
          </a:solidFill>
          <a:ln w="12700">
            <a:solidFill>
              <a:srgbClr val="4A54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07008" y="6208776"/>
            <a:ext cx="5833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Confirmed: CRM_CUST_EDIT.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89520" y="1417320"/>
            <a:ext cx="4160520" cy="4892040"/>
          </a:xfrm>
          <a:prstGeom prst="roundRect">
            <a:avLst>
              <a:gd name="adj" fmla="val 1538"/>
            </a:avLst>
          </a:prstGeom>
          <a:solidFill>
            <a:srgbClr val="2A1620"/>
          </a:solidFill>
          <a:ln w="12700">
            <a:solidFill>
              <a:srgbClr val="4A24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18120" y="16184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818120" y="2112264"/>
            <a:ext cx="109728" cy="109728"/>
          </a:xfrm>
          <a:prstGeom prst="ellipse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0" y="20574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and permission decisions are locked in before any Java is generated.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818120" y="3044952"/>
            <a:ext cx="109728" cy="109728"/>
          </a:xfrm>
          <a:prstGeom prst="ellipse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0" y="299008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behavior (like an undocumented FK) is left unresolved rather than guessed.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818120" y="3977640"/>
            <a:ext cx="109728" cy="109728"/>
          </a:xfrm>
          <a:prstGeom prst="ellipse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0" y="3922776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becomes a durable field in api-contract.json, sourced back to a DR reference.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818120" y="4910328"/>
            <a:ext cx="109728" cy="109728"/>
          </a:xfrm>
          <a:prstGeom prst="ellipse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0" y="4855464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generation prompts read only the agreed contract — never raw DR or chat memory.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AI INITIATIVES  ·  Spec-Driven Delivery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2560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B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SPECIFICATION  ·  3 OF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475488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agreed contract to generated, framework-compliant Java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84048" y="1051560"/>
            <a:ext cx="26517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01600" dist="25400" dir="16200000">
              <a:srgbClr val="1B2A4A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1887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1499616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create-api-contract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029968"/>
            <a:ext cx="2340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single durable api-contract.json from the agreed shared spec.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35808" y="196596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380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00400" y="1051560"/>
            <a:ext cx="26517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01600" dist="25400" dir="16200000">
              <a:srgbClr val="1B2A4A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64992" y="11887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64992" y="1499616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review-api-contract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64992" y="2029968"/>
            <a:ext cx="2340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traceability back to the DR and fit against the TOP Spring Boot starter.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52160" y="196596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380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16752" y="1051560"/>
            <a:ext cx="26517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01600" dist="25400" dir="16200000">
              <a:srgbClr val="1B2A4A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81344" y="11887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81344" y="1499616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generate-crud / sql-chain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81344" y="2029968"/>
            <a:ext cx="2340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config, entity, dto, repository, processor files — never a controller.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68512" y="196596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380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833104" y="1051560"/>
            <a:ext cx="26517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01600" dist="25400" dir="16200000">
              <a:srgbClr val="1B2A4A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997696" y="11887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997696" y="1499616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review-generated-function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97696" y="2029968"/>
            <a:ext cx="2340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generated Java against the contract before it reaches the service module.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65760" y="3429000"/>
            <a:ext cx="11466576" cy="9144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5387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already owns CRUD, auth, pagination, and OpenAPI.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6928" y="384962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GenericController, GenericService, global exception handling, and authorization ship with top-spring-boot-starter. Generated code targets only &lt;function-key&gt;/config, entity, dto, repository, processor.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65760" y="4526280"/>
            <a:ext cx="11466576" cy="1508760"/>
          </a:xfrm>
          <a:prstGeom prst="roundRect">
            <a:avLst>
              <a:gd name="adj" fmla="val 4242"/>
            </a:avLst>
          </a:prstGeom>
          <a:solidFill>
            <a:srgbClr val="E8EEF6"/>
          </a:solidFill>
          <a:ln w="12700">
            <a:solidFill>
              <a:srgbClr val="C7D6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663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generated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6928" y="49560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controllers · CRUD services · exception handlers · security filters · manual OpenAPI annotations · DTO mappers · custom repository query methods — the framework already provides these.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AI INITIATIVES  ·  Spec-Driven Delivery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/ 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2560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EB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SPECIFICATION  ·  4 OF 4  ·  RESPONSIBILITY SPLIT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475488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tells the agent what: instructions, main instructions, prompts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1024128"/>
            <a:ext cx="3730752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01600" dist="25400" dir="16200000">
              <a:srgbClr val="1B2A4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024128"/>
            <a:ext cx="3730752" cy="731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07008"/>
            <a:ext cx="3364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copilot-instructions.md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170078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constitution — always 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139696"/>
            <a:ext cx="91440" cy="914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08483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broadly across the whole workspace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688336"/>
            <a:ext cx="91440" cy="914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63347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architecture, mandatory rules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236976"/>
            <a:ext cx="91440" cy="914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8211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requirements/design/tasks ordering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785616"/>
            <a:ext cx="91440" cy="914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73075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short — no detailed workflows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42816" y="1024128"/>
            <a:ext cx="3730752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01600" dist="25400" dir="16200000">
              <a:srgbClr val="1B2A4A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42816" y="1024128"/>
            <a:ext cx="3730752" cy="73152"/>
          </a:xfrm>
          <a:prstGeom prst="rect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25696" y="1207008"/>
            <a:ext cx="3364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main-source-code.instructions.md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425696" y="170078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rules — applyTo: **/src/main/java/**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25696" y="2139696"/>
            <a:ext cx="91440" cy="91440"/>
          </a:xfrm>
          <a:prstGeom prst="ellipse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08576" y="208483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rules for framework-consuming Java code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425696" y="2688336"/>
            <a:ext cx="91440" cy="91440"/>
          </a:xfrm>
          <a:prstGeom prst="ellipse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08576" y="263347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controllers, CRUD services, security filters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425696" y="3236976"/>
            <a:ext cx="91440" cy="91440"/>
          </a:xfrm>
          <a:prstGeom prst="ellipse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08576" y="318211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query, filter, processor, logging conventions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25696" y="3785616"/>
            <a:ext cx="91440" cy="91440"/>
          </a:xfrm>
          <a:prstGeom prst="ellipse">
            <a:avLst/>
          </a:prstGeom>
          <a:solidFill>
            <a:srgbClr val="EB0A1E"/>
          </a:solidFill>
          <a:ln w="12700">
            <a:solidFill>
              <a:srgbClr val="EB0A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08576" y="373075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only where the glob pattern matches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19872" y="1024128"/>
            <a:ext cx="3730752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sx="100000" sy="100000" kx="0" ky="0" algn="bl" rotWithShape="0" blurRad="101600" dist="25400" dir="16200000">
              <a:srgbClr val="1B2A4A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19872" y="1024128"/>
            <a:ext cx="3730752" cy="7315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02752" y="1207008"/>
            <a:ext cx="3364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prompts/*.prompt.md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8302752" y="170078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workflows — invoked explicitly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302752" y="2139696"/>
            <a:ext cx="91440" cy="9144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85632" y="208483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review-api-contract for the contract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302752" y="2688336"/>
            <a:ext cx="91440" cy="9144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85632" y="263347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generate-crud / generate-sql-chain-function for code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302752" y="3236976"/>
            <a:ext cx="91440" cy="9144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85632" y="318211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generate-cucumber-feature, review-generated-function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302752" y="3785616"/>
            <a:ext cx="91440" cy="91440"/>
          </a:xfrm>
          <a:prstGeom prst="ellipse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85632" y="373075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prompt reads the contract, not the raw DR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65760" y="4434840"/>
            <a:ext cx="11466576" cy="9144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" y="454456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instructions constrain how code is written; prompts drive what gets produced, step by step.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66928" y="485546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5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copilot-instructions.md applies everywhere. main-source-code.instructions.md narrows to Java main source via applyTo. Prompts are invoked deliberately for one workflow step (contract, generation, review) and never substitute for either instructions file.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Shared DR, Two Specialized Tracks</dc:title>
  <dc:subject>top-spec-workflow → top-ui-spec-workflow / top-api-spec-workflow</dc:subject>
  <dc:creator>TOP AI Initiatives</dc:creator>
  <cp:lastModifiedBy>TOP AI Initiatives</cp:lastModifiedBy>
  <cp:revision>1</cp:revision>
  <dcterms:created xsi:type="dcterms:W3CDTF">2026-09-10T03:50:39Z</dcterms:created>
  <dcterms:modified xsi:type="dcterms:W3CDTF">2026-09-10T03:50:39Z</dcterms:modified>
</cp:coreProperties>
</file>